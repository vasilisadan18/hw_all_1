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F38DFA-AF06-4A20-AF57-CAE275F573ED}">
  <a:tblStyle styleId="{FCF38DFA-AF06-4A20-AF57-CAE275F573E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baec36765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g3ebaec36765_2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ebaec36765_2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baec36765_2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g3ebaec36765_2_1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ebaec36765_2_1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baec36765_2_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g3ebaec36765_2_3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ebaec36765_2_3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baec36765_2_6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g3ebaec36765_2_6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ebaec36765_2_6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baec36765_2_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g3ebaec36765_2_9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ebaec36765_2_9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baec36765_2_10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ebaec36765_2_10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ebaec36765_2_10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baec36765_2_1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g3ebaec36765_2_12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baec36765_2_12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baec36765_2_1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g3ebaec36765_2_13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ebaec36765_2_13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baec36765_2_2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g3ebaec36765_2_21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baec36765_2_21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bf631146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ebf631146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bd7cb633c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ebd7cb633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bd7cb63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ebd7cb63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bd7cb633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ebd7cb633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bd7cb633c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ebd7cb633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51.250.16.234:5001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fioEXJbcNafO2TEUPRYjeW9TMuQetlm3/view" TargetMode="External"/><Relationship Id="rId4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05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5943600" y="-1097280"/>
            <a:ext cx="4754880" cy="4754880"/>
          </a:xfrm>
          <a:prstGeom prst="ellipse">
            <a:avLst/>
          </a:prstGeom>
          <a:solidFill>
            <a:srgbClr val="243D63"/>
          </a:solidFill>
          <a:ln cap="flat" cmpd="sng" w="12700">
            <a:solidFill>
              <a:srgbClr val="243D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6766560" y="-457200"/>
            <a:ext cx="3200400" cy="3200400"/>
          </a:xfrm>
          <a:prstGeom prst="ellipse">
            <a:avLst/>
          </a:prstGeom>
          <a:solidFill>
            <a:srgbClr val="0097B2">
              <a:alpha val="21960"/>
            </a:srgbClr>
          </a:solidFill>
          <a:ln cap="flat" cmpd="sng" w="12700">
            <a:solidFill>
              <a:srgbClr val="0097B2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0" y="4068950"/>
            <a:ext cx="9144000" cy="1028700"/>
          </a:xfrm>
          <a:prstGeom prst="rect">
            <a:avLst/>
          </a:prstGeom>
          <a:solidFill>
            <a:srgbClr val="243D63"/>
          </a:solidFill>
          <a:ln cap="flat" cmpd="sng" w="12700">
            <a:solidFill>
              <a:srgbClr val="243D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411480" y="2560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ru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Команда №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411480" y="658368"/>
            <a:ext cx="64008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ru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Распознавание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ru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активности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411480" y="2194560"/>
            <a:ext cx="6858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0" i="0" lang="ru" sz="2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по данным акселерометра и звука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11480" y="2852928"/>
            <a:ext cx="3657600" cy="36576"/>
          </a:xfrm>
          <a:prstGeom prst="rect">
            <a:avLst/>
          </a:prstGeom>
          <a:solidFill>
            <a:srgbClr val="0097B2"/>
          </a:solidFill>
          <a:ln cap="flat" cmpd="sng" w="12700">
            <a:solidFill>
              <a:srgbClr val="0097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411480" y="29718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AA0"/>
              </a:buClr>
              <a:buSzPts val="1200"/>
              <a:buFont typeface="Calibri"/>
              <a:buNone/>
            </a:pPr>
            <a:r>
              <a:rPr b="0" i="0" lang="ru" sz="1500" u="none" cap="none" strike="noStrike">
                <a:solidFill>
                  <a:srgbClr val="6A8AA0"/>
                </a:solidFill>
                <a:latin typeface="Calibri"/>
                <a:ea typeface="Calibri"/>
                <a:cs typeface="Calibri"/>
                <a:sym typeface="Calibri"/>
              </a:rPr>
              <a:t>Состав команды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411480" y="3310127"/>
            <a:ext cx="5029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8"/>
              </a:buClr>
              <a:buSzPts val="1400"/>
              <a:buFont typeface="Calibri"/>
              <a:buNone/>
            </a:pPr>
            <a:r>
              <a:rPr b="0" i="0" lang="ru" sz="1600" u="none" cap="none" strike="noStrike">
                <a:solidFill>
                  <a:srgbClr val="DDEEF8"/>
                </a:solidFill>
                <a:latin typeface="Calibri"/>
                <a:ea typeface="Calibri"/>
                <a:cs typeface="Calibri"/>
                <a:sym typeface="Calibri"/>
              </a:rPr>
              <a:t>Акимов Сергей Вадимович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8"/>
              </a:buClr>
              <a:buSzPts val="1400"/>
              <a:buFont typeface="Calibri"/>
              <a:buNone/>
            </a:pPr>
            <a:r>
              <a:rPr b="0" i="0" lang="ru" sz="1600" u="none" cap="none" strike="noStrike">
                <a:solidFill>
                  <a:srgbClr val="DDEEF8"/>
                </a:solidFill>
                <a:latin typeface="Calibri"/>
                <a:ea typeface="Calibri"/>
                <a:cs typeface="Calibri"/>
                <a:sym typeface="Calibri"/>
              </a:rPr>
              <a:t>Даньшина Василиса Ивановна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8"/>
              </a:buClr>
              <a:buSzPts val="1400"/>
              <a:buFont typeface="Calibri"/>
              <a:buNone/>
            </a:pPr>
            <a:r>
              <a:rPr b="0" i="0" lang="ru" sz="1600" u="none" cap="none" strike="noStrike">
                <a:solidFill>
                  <a:srgbClr val="DDEEF8"/>
                </a:solidFill>
                <a:latin typeface="Calibri"/>
                <a:ea typeface="Calibri"/>
                <a:cs typeface="Calibri"/>
                <a:sym typeface="Calibri"/>
              </a:rPr>
              <a:t>Секретов Кирилл Андреевич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11480" y="4224528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0" i="0" lang="ru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Куратор: Карагодин Никита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365760" y="731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274320" y="932688"/>
            <a:ext cx="4114800" cy="3931920"/>
          </a:xfrm>
          <a:prstGeom prst="roundRect">
            <a:avLst>
              <a:gd fmla="val 2326" name="adj"/>
            </a:avLst>
          </a:prstGeom>
          <a:solidFill>
            <a:srgbClr val="FFFFFF"/>
          </a:solidFill>
          <a:ln cap="flat" cmpd="sng" w="12700">
            <a:solidFill>
              <a:srgbClr val="2970B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457200" y="104241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70B5"/>
              </a:buClr>
              <a:buSzPts val="1600"/>
              <a:buFont typeface="Calibri"/>
              <a:buNone/>
            </a:pPr>
            <a:r>
              <a:rPr b="1" lang="ru" sz="1700">
                <a:solidFill>
                  <a:srgbClr val="2970B5"/>
                </a:solidFill>
                <a:latin typeface="Calibri"/>
                <a:ea typeface="Calibri"/>
                <a:cs typeface="Calibri"/>
                <a:sym typeface="Calibri"/>
              </a:rPr>
              <a:t>Задача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57200" y="1426464"/>
            <a:ext cx="374904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b="1"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Многоклассовая классификация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временных окон по совместным аудио- и акселерометрическим признакам.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b="1"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7 классов активностей: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brush_teeth, cooking, eat_chips,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mop_floor, sweep, type_on_keyboard,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wash_hands, watch_tv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63440" y="932688"/>
            <a:ext cx="4206240" cy="3931920"/>
          </a:xfrm>
          <a:prstGeom prst="roundRect">
            <a:avLst>
              <a:gd fmla="val 2326" name="adj"/>
            </a:avLst>
          </a:prstGeom>
          <a:solidFill>
            <a:srgbClr val="FFFFFF"/>
          </a:solidFill>
          <a:ln cap="flat" cmpd="sng" w="12700">
            <a:solidFill>
              <a:srgbClr val="2D9E6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5" name="Google Shape;85;p17"/>
          <p:cNvSpPr/>
          <p:nvPr/>
        </p:nvSpPr>
        <p:spPr>
          <a:xfrm>
            <a:off x="4846320" y="104241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9E6B"/>
              </a:buClr>
              <a:buSzPts val="1600"/>
              <a:buFont typeface="Calibri"/>
              <a:buNone/>
            </a:pPr>
            <a:r>
              <a:rPr b="1" lang="ru" sz="1700">
                <a:solidFill>
                  <a:srgbClr val="2D9E6B"/>
                </a:solidFill>
                <a:latin typeface="Calibri"/>
                <a:ea typeface="Calibri"/>
                <a:cs typeface="Calibri"/>
                <a:sym typeface="Calibri"/>
              </a:rPr>
              <a:t>Ценность решения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846320" y="153619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250"/>
              <a:buFont typeface="Calibri"/>
              <a:buNone/>
            </a:pPr>
            <a:r>
              <a:rPr b="1" lang="ru" sz="155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🏥  Здравоохранение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846320" y="181965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6A"/>
              </a:buClr>
              <a:buSzPts val="1150"/>
              <a:buFont typeface="Calibri"/>
              <a:buNone/>
            </a:pPr>
            <a:r>
              <a:rPr lang="ru" sz="1450">
                <a:solidFill>
                  <a:srgbClr val="3A5A6A"/>
                </a:solidFill>
                <a:latin typeface="Calibri"/>
                <a:ea typeface="Calibri"/>
                <a:cs typeface="Calibri"/>
                <a:sym typeface="Calibri"/>
              </a:rPr>
              <a:t>мониторинг пациентов и пожилых людей дома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846320" y="234086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250"/>
              <a:buFont typeface="Calibri"/>
              <a:buNone/>
            </a:pPr>
            <a:r>
              <a:rPr b="1" lang="ru" sz="155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⌚  Умные часы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846320" y="2665491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6A"/>
              </a:buClr>
              <a:buSzPts val="1150"/>
              <a:buFont typeface="Calibri"/>
              <a:buNone/>
            </a:pPr>
            <a:r>
              <a:rPr lang="ru" sz="1450">
                <a:solidFill>
                  <a:srgbClr val="3A5A6A"/>
                </a:solidFill>
                <a:latin typeface="Calibri"/>
                <a:ea typeface="Calibri"/>
                <a:cs typeface="Calibri"/>
                <a:sym typeface="Calibri"/>
              </a:rPr>
              <a:t>умные часы — автоматический трекинг активности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846320" y="314553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250"/>
              <a:buFont typeface="Calibri"/>
              <a:buNone/>
            </a:pPr>
            <a:r>
              <a:rPr b="1" lang="ru" sz="155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🏠  Умный дом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846320" y="3547875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6A"/>
              </a:buClr>
              <a:buSzPts val="1150"/>
              <a:buFont typeface="Calibri"/>
              <a:buNone/>
            </a:pPr>
            <a:r>
              <a:rPr lang="ru" sz="1450">
                <a:solidFill>
                  <a:srgbClr val="3A5A6A"/>
                </a:solidFill>
                <a:latin typeface="Calibri"/>
                <a:ea typeface="Calibri"/>
                <a:cs typeface="Calibri"/>
                <a:sym typeface="Calibri"/>
              </a:rPr>
              <a:t>контекстная автоматизация под активность пользователя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846320" y="395020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250"/>
              <a:buFont typeface="Calibri"/>
              <a:buNone/>
            </a:pPr>
            <a:r>
              <a:rPr b="1" lang="ru" sz="155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🔬  Исследования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846258" y="4352647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6A"/>
              </a:buClr>
              <a:buSzPts val="1150"/>
              <a:buFont typeface="Calibri"/>
              <a:buNone/>
            </a:pPr>
            <a:r>
              <a:rPr lang="ru" sz="1450">
                <a:solidFill>
                  <a:srgbClr val="3A5A6A"/>
                </a:solidFill>
                <a:latin typeface="Calibri"/>
                <a:ea typeface="Calibri"/>
                <a:cs typeface="Calibri"/>
                <a:sym typeface="Calibri"/>
              </a:rPr>
              <a:t>сбор данных о поведении без участия пользователя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365760" y="731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Описание данных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274320" y="91440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D8E2F3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" name="Google Shape;103;p18"/>
          <p:cNvSpPr/>
          <p:nvPr/>
        </p:nvSpPr>
        <p:spPr>
          <a:xfrm>
            <a:off x="320040" y="97840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lang="ru" sz="26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HTAD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320040" y="14356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1000"/>
              <a:buFont typeface="Calibri"/>
              <a:buNone/>
            </a:pPr>
            <a:r>
              <a:rPr lang="ru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датасет</a:t>
            </a:r>
            <a:endParaRPr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2450592" y="91440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D8E2F3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" name="Google Shape;106;p18"/>
          <p:cNvSpPr/>
          <p:nvPr/>
        </p:nvSpPr>
        <p:spPr>
          <a:xfrm>
            <a:off x="2496312" y="97840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lang="ru" sz="26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~3 400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2496312" y="14356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1000"/>
              <a:buFont typeface="Calibri"/>
              <a:buNone/>
            </a:pPr>
            <a:r>
              <a:rPr lang="ru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наблюдений</a:t>
            </a:r>
            <a:endParaRPr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626864" y="91440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D8E2F3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" name="Google Shape;109;p18"/>
          <p:cNvSpPr/>
          <p:nvPr/>
        </p:nvSpPr>
        <p:spPr>
          <a:xfrm>
            <a:off x="4672584" y="97840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lang="ru" sz="26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672584" y="14356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1000"/>
              <a:buFont typeface="Calibri"/>
              <a:buNone/>
            </a:pPr>
            <a:r>
              <a:rPr lang="ru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признаков</a:t>
            </a:r>
            <a:endParaRPr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6803136" y="91440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D8E2F3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" name="Google Shape;112;p18"/>
          <p:cNvSpPr/>
          <p:nvPr/>
        </p:nvSpPr>
        <p:spPr>
          <a:xfrm>
            <a:off x="6848856" y="97840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lang="ru" sz="26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6848856" y="14356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1000"/>
              <a:buFont typeface="Calibri"/>
              <a:buNone/>
            </a:pPr>
            <a:r>
              <a:rPr lang="ru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классов</a:t>
            </a:r>
            <a:endParaRPr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274320" y="1965960"/>
            <a:ext cx="4069080" cy="283464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2700">
            <a:solidFill>
              <a:srgbClr val="2970B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457200" y="208483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70B5"/>
              </a:buClr>
              <a:buSzPts val="1400"/>
              <a:buFont typeface="Calibri"/>
              <a:buNone/>
            </a:pPr>
            <a:r>
              <a:rPr b="1" lang="ru" sz="1400">
                <a:solidFill>
                  <a:srgbClr val="2970B5"/>
                </a:solidFill>
                <a:latin typeface="Calibri"/>
                <a:ea typeface="Calibri"/>
                <a:cs typeface="Calibri"/>
                <a:sym typeface="Calibri"/>
              </a:rPr>
              <a:t>Структура признаков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457200" y="2441448"/>
            <a:ext cx="374904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b="1" lang="ru" sz="14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Аудио (v1_mfcc1–v1_mfcc36):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lang="ru" sz="14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36 мел-кепстральных коэффициентов (MFCC).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lang="ru" sz="14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Низкие (1–5): энергия и форма спектра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lang="ru" sz="14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Средние (6–20): тембр, шум, шаги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lang="ru" sz="14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Высокие (21–36): тонкие спектральные детали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lang="ru" sz="14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b="1" lang="ru" sz="14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Акселерометр (v2_*):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lang="ru" sz="14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mean/sd/max по X,Y,Z; corXY/XZ/YZ;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400"/>
              <a:buFont typeface="Calibri"/>
              <a:buNone/>
            </a:pPr>
            <a:r>
              <a:rPr lang="ru" sz="14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meanMagnitude, sdMagnitude, auc, meanDif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572000" y="1965960"/>
            <a:ext cx="4297680" cy="283464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2700">
            <a:solidFill>
              <a:srgbClr val="E87A3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8" name="Google Shape;118;p18"/>
          <p:cNvSpPr/>
          <p:nvPr/>
        </p:nvSpPr>
        <p:spPr>
          <a:xfrm>
            <a:off x="4754880" y="208483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A30"/>
              </a:buClr>
              <a:buSzPts val="1400"/>
              <a:buFont typeface="Calibri"/>
              <a:buNone/>
            </a:pPr>
            <a:r>
              <a:rPr b="1" lang="ru" sz="1600">
                <a:solidFill>
                  <a:srgbClr val="E87A30"/>
                </a:solidFill>
                <a:latin typeface="Calibri"/>
                <a:ea typeface="Calibri"/>
                <a:cs typeface="Calibri"/>
                <a:sym typeface="Calibri"/>
              </a:rPr>
              <a:t>Особенности данных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4754880" y="2427731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200"/>
              <a:buFont typeface="Calibri"/>
              <a:buNone/>
            </a:pPr>
            <a:r>
              <a:rPr b="1" lang="ru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✅  Пропуски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4754930" y="2715844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6A"/>
              </a:buClr>
              <a:buSzPts val="1100"/>
              <a:buFont typeface="Calibri"/>
              <a:buNone/>
            </a:pPr>
            <a:r>
              <a:rPr lang="ru" sz="1300">
                <a:solidFill>
                  <a:srgbClr val="3A5A6A"/>
                </a:solidFill>
                <a:latin typeface="Calibri"/>
                <a:ea typeface="Calibri"/>
                <a:cs typeface="Calibri"/>
                <a:sym typeface="Calibri"/>
              </a:rPr>
              <a:t>пропущенных значений нет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754830" y="2917008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200"/>
              <a:buFont typeface="Calibri"/>
              <a:buNone/>
            </a:pPr>
            <a:r>
              <a:rPr b="1" lang="ru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⚠️  Выбросы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4754880" y="328269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6A"/>
              </a:buClr>
              <a:buSzPts val="1100"/>
              <a:buFont typeface="Calibri"/>
              <a:buNone/>
            </a:pPr>
            <a:r>
              <a:rPr lang="ru" sz="1300">
                <a:solidFill>
                  <a:srgbClr val="3A5A6A"/>
                </a:solidFill>
                <a:latin typeface="Calibri"/>
                <a:ea typeface="Calibri"/>
                <a:cs typeface="Calibri"/>
                <a:sym typeface="Calibri"/>
              </a:rPr>
              <a:t>значительные у sweep, mop_floor, brush_teeth по v2_meanDif и v2_auc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4754818" y="3685023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200"/>
              <a:buFont typeface="Calibri"/>
              <a:buNone/>
            </a:pPr>
            <a:r>
              <a:rPr b="1" lang="ru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📊  Баланс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754880" y="3886211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6A"/>
              </a:buClr>
              <a:buSzPts val="1100"/>
              <a:buFont typeface="Calibri"/>
              <a:buNone/>
            </a:pPr>
            <a:r>
              <a:rPr lang="ru" sz="1300">
                <a:solidFill>
                  <a:srgbClr val="3A5A6A"/>
                </a:solidFill>
                <a:latin typeface="Calibri"/>
                <a:ea typeface="Calibri"/>
                <a:cs typeface="Calibri"/>
                <a:sym typeface="Calibri"/>
              </a:rPr>
              <a:t>классы относительно сбалансированы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754880" y="4178813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200"/>
              <a:buFont typeface="Calibri"/>
              <a:buNone/>
            </a:pPr>
            <a:r>
              <a:rPr b="1" lang="ru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📐  Нормировка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4754880" y="4434851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6A"/>
              </a:buClr>
              <a:buSzPts val="1100"/>
              <a:buFont typeface="Calibri"/>
              <a:buNone/>
            </a:pPr>
            <a:r>
              <a:rPr lang="ru" sz="1300">
                <a:solidFill>
                  <a:srgbClr val="3A5A6A"/>
                </a:solidFill>
                <a:latin typeface="Calibri"/>
                <a:ea typeface="Calibri"/>
                <a:cs typeface="Calibri"/>
                <a:sym typeface="Calibri"/>
              </a:rPr>
              <a:t>акселерометр нормирован на g = 9.81 м/с²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365760" y="731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Ключевые результаты EDA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274325" y="3584450"/>
            <a:ext cx="2084700" cy="13227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87A3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6" name="Google Shape;136;p19"/>
          <p:cNvSpPr/>
          <p:nvPr/>
        </p:nvSpPr>
        <p:spPr>
          <a:xfrm>
            <a:off x="484632" y="3721693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100"/>
              <a:buFont typeface="Calibri"/>
              <a:buNone/>
            </a:pPr>
            <a:r>
              <a:rPr b="1" lang="ru" sz="13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⚠️  Выбросы = сигнал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365760" y="4127293"/>
            <a:ext cx="1874520" cy="445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4050"/>
              </a:buClr>
              <a:buSzPts val="1000"/>
              <a:buFont typeface="Calibri"/>
              <a:buNone/>
            </a:pPr>
            <a:r>
              <a:rPr lang="ru" sz="1200">
                <a:solidFill>
                  <a:srgbClr val="2A4050"/>
                </a:solidFill>
                <a:latin typeface="Calibri"/>
                <a:ea typeface="Calibri"/>
                <a:cs typeface="Calibri"/>
                <a:sym typeface="Calibri"/>
              </a:rPr>
              <a:t>sweep/mop_floor/brush_teeth — резкие движения, удалять нельзя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2487175" y="3584450"/>
            <a:ext cx="2084700" cy="13227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2970B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9" name="Google Shape;139;p19"/>
          <p:cNvSpPr/>
          <p:nvPr/>
        </p:nvSpPr>
        <p:spPr>
          <a:xfrm>
            <a:off x="2596896" y="3728116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100"/>
              <a:buFont typeface="Calibri"/>
              <a:buNone/>
            </a:pPr>
            <a:r>
              <a:rPr b="1" lang="ru" sz="13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🎯  Лёгкие классы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2587752" y="4096397"/>
            <a:ext cx="1874520" cy="542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4050"/>
              </a:buClr>
              <a:buSzPts val="1000"/>
              <a:buFont typeface="Calibri"/>
              <a:buNone/>
            </a:pPr>
            <a:r>
              <a:rPr lang="ru" sz="1200">
                <a:solidFill>
                  <a:srgbClr val="2A4050"/>
                </a:solidFill>
                <a:latin typeface="Calibri"/>
                <a:ea typeface="Calibri"/>
                <a:cs typeface="Calibri"/>
                <a:sym typeface="Calibri"/>
              </a:rPr>
              <a:t>type_on_keyboard и watch_tv — уникальные паттерны (F1 ≈ 0.94+)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4700025" y="3584450"/>
            <a:ext cx="2084700" cy="13227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D94F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2" name="Google Shape;142;p19"/>
          <p:cNvSpPr/>
          <p:nvPr/>
        </p:nvSpPr>
        <p:spPr>
          <a:xfrm>
            <a:off x="4709160" y="3728116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100"/>
              <a:buFont typeface="Calibri"/>
              <a:buNone/>
            </a:pPr>
            <a:r>
              <a:rPr b="1" lang="ru" sz="13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❗  Сложные классы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809744" y="4041732"/>
            <a:ext cx="1874520" cy="639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4050"/>
              </a:buClr>
              <a:buSzPts val="1000"/>
              <a:buFont typeface="Calibri"/>
              <a:buNone/>
            </a:pPr>
            <a:r>
              <a:rPr lang="ru" sz="1200">
                <a:solidFill>
                  <a:srgbClr val="2A4050"/>
                </a:solidFill>
                <a:latin typeface="Calibri"/>
                <a:ea typeface="Calibri"/>
                <a:cs typeface="Calibri"/>
                <a:sym typeface="Calibri"/>
              </a:rPr>
              <a:t>brush_teeth / mop_floor / sweep — схожая механика движений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6912875" y="3584450"/>
            <a:ext cx="2084700" cy="13227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2D9E6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5" name="Google Shape;145;p19"/>
          <p:cNvSpPr/>
          <p:nvPr/>
        </p:nvSpPr>
        <p:spPr>
          <a:xfrm>
            <a:off x="7022592" y="3728116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100"/>
              <a:buFont typeface="Calibri"/>
              <a:buNone/>
            </a:pPr>
            <a:r>
              <a:rPr b="1" lang="ru" sz="13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💡  FE-потенциал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7022592" y="4041732"/>
            <a:ext cx="1874520" cy="639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4050"/>
              </a:buClr>
              <a:buSzPts val="1000"/>
              <a:buFont typeface="Calibri"/>
              <a:buNone/>
            </a:pPr>
            <a:r>
              <a:rPr lang="ru" sz="1200">
                <a:solidFill>
                  <a:srgbClr val="2A4050"/>
                </a:solidFill>
                <a:latin typeface="Calibri"/>
                <a:ea typeface="Calibri"/>
                <a:cs typeface="Calibri"/>
                <a:sym typeface="Calibri"/>
              </a:rPr>
              <a:t>Агрегаты MFCC + кросс-модальные взаимодействия помогут моделям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2323" y="898992"/>
            <a:ext cx="5878797" cy="2447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956" y="890232"/>
            <a:ext cx="2653747" cy="2448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/>
          <p:nvPr/>
        </p:nvSpPr>
        <p:spPr>
          <a:xfrm>
            <a:off x="569950" y="3350225"/>
            <a:ext cx="2512500" cy="17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1B3050"/>
                </a:solidFill>
              </a:rPr>
              <a:t>График 1. </a:t>
            </a:r>
            <a:r>
              <a:rPr lang="ru" sz="700">
                <a:solidFill>
                  <a:srgbClr val="1B3050"/>
                </a:solidFill>
              </a:rPr>
              <a:t>Корреляция</a:t>
            </a:r>
            <a:r>
              <a:rPr lang="ru" sz="700">
                <a:solidFill>
                  <a:srgbClr val="1B3050"/>
                </a:solidFill>
              </a:rPr>
              <a:t> между MCCF коэффициентами</a:t>
            </a:r>
            <a:endParaRPr sz="400">
              <a:solidFill>
                <a:srgbClr val="1B3050"/>
              </a:solidFill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3767400" y="3176225"/>
            <a:ext cx="5129700" cy="17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1B3050"/>
                </a:solidFill>
              </a:rPr>
              <a:t>График 2. Топ классов по выбросам для каждого ключевого признака</a:t>
            </a:r>
            <a:endParaRPr sz="700">
              <a:solidFill>
                <a:srgbClr val="1B3050"/>
              </a:solidFill>
            </a:endParaRPr>
          </a:p>
        </p:txBody>
      </p:sp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365760" y="731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Метрики качества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274320" y="932688"/>
            <a:ext cx="8595360" cy="1481328"/>
          </a:xfrm>
          <a:prstGeom prst="roundRect">
            <a:avLst>
              <a:gd fmla="val 6173" name="adj"/>
            </a:avLst>
          </a:prstGeom>
          <a:solidFill>
            <a:srgbClr val="D8E2F3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548640" y="1024128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lang="ru" sz="18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⭐  Основная метрика: F1-macro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548640" y="14630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lang="ru" sz="1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Среднее F1-score по всем классам без взвешивания. Обоснование: многоклассовая задача с относительно сбалансированными классами. F1-macro одинаково штрафует за ошибки на редких и частых активностях — важен каждый класс.</a:t>
            </a:r>
            <a:endParaRPr sz="12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729485"/>
            <a:ext cx="2645983" cy="185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3676" y="3278695"/>
            <a:ext cx="2729154" cy="840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4105" y="3337701"/>
            <a:ext cx="2269596" cy="69180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/>
          <p:nvPr/>
        </p:nvSpPr>
        <p:spPr>
          <a:xfrm>
            <a:off x="0" y="9150"/>
            <a:ext cx="9144000" cy="80460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365760" y="73152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Стартовое решение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274320" y="896112"/>
            <a:ext cx="2743200" cy="2359152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 cap="flat" cmpd="sng" w="12700">
            <a:solidFill>
              <a:srgbClr val="2970B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438912" y="98755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70B5"/>
              </a:buClr>
              <a:buSzPts val="1400"/>
              <a:buFont typeface="Calibri"/>
              <a:buNone/>
            </a:pPr>
            <a:r>
              <a:rPr b="1" lang="ru" sz="1400">
                <a:solidFill>
                  <a:srgbClr val="2970B5"/>
                </a:solidFill>
                <a:latin typeface="Calibri"/>
                <a:ea typeface="Calibri"/>
                <a:cs typeface="Calibri"/>
                <a:sym typeface="Calibri"/>
              </a:rPr>
              <a:t>KNN (Baseline)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438912" y="1371600"/>
            <a:ext cx="2423160" cy="384048"/>
          </a:xfrm>
          <a:prstGeom prst="roundRect">
            <a:avLst>
              <a:gd fmla="val 14286" name="adj"/>
            </a:avLst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438912" y="138988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lang="ru" sz="14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F1-macro = 0.9185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438912" y="1801368"/>
            <a:ext cx="242316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050"/>
              <a:buFont typeface="Calibri"/>
              <a:buNone/>
            </a:pPr>
            <a:r>
              <a:rPr lang="ru" sz="105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✅ watch_tv F1=0.962, eat_chips F1=0.983</a:t>
            </a:r>
            <a:r>
              <a:rPr lang="ru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</a:t>
            </a:r>
            <a:r>
              <a:rPr lang="ru" sz="105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ype_on_keyboard F1= 0.973, wash_hands F1= 0.928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050"/>
              <a:buFont typeface="Calibri"/>
              <a:buNone/>
            </a:pPr>
            <a:r>
              <a:rPr lang="ru" sz="105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⚠️ brush_teeth F1=0.844, mop_floor F1= 0.857,  sweep F1 = 0.883— путает со схожими движениями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050"/>
              <a:buFont typeface="Calibri"/>
              <a:buNone/>
            </a:pPr>
            <a:r>
              <a:rPr i="1" lang="ru" sz="105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Лучшие гиперпараметры: k=3, manhattan, weights=distance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274320" y="3337560"/>
            <a:ext cx="2743200" cy="1481328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87A3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438912" y="3429000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A30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E87A30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438912" y="3785616"/>
            <a:ext cx="2423160" cy="347472"/>
          </a:xfrm>
          <a:prstGeom prst="roundRect">
            <a:avLst>
              <a:gd fmla="val 15789" name="adj"/>
            </a:avLst>
          </a:prstGeom>
          <a:solidFill>
            <a:srgbClr val="FFF3E8"/>
          </a:solidFill>
          <a:ln cap="flat" cmpd="sng" w="12700">
            <a:solidFill>
              <a:srgbClr val="E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438912" y="3803904"/>
            <a:ext cx="2423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A30"/>
              </a:buClr>
              <a:buSzPts val="1300"/>
              <a:buFont typeface="Calibri"/>
              <a:buNone/>
            </a:pPr>
            <a:r>
              <a:rPr b="1" lang="ru" sz="1300">
                <a:solidFill>
                  <a:srgbClr val="E87A30"/>
                </a:solidFill>
                <a:latin typeface="Calibri"/>
                <a:ea typeface="Calibri"/>
                <a:cs typeface="Calibri"/>
                <a:sym typeface="Calibri"/>
              </a:rPr>
              <a:t>F1-macro = 0.832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438912" y="416052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050"/>
              <a:buFont typeface="Calibri"/>
              <a:buNone/>
            </a:pPr>
            <a:r>
              <a:rPr lang="ru" sz="105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C=0.1, penalty=l2; хуже KNN на 7.7% — логистическая регрессия не справляется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3647" y="841242"/>
            <a:ext cx="2409921" cy="212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5221" y="841249"/>
            <a:ext cx="3095275" cy="2239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6628" y="3190600"/>
            <a:ext cx="3680347" cy="18262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/>
          <p:nvPr/>
        </p:nvSpPr>
        <p:spPr>
          <a:xfrm>
            <a:off x="3239025" y="3080875"/>
            <a:ext cx="2099100" cy="17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/>
              <a:t>График 3. F1-score для разных комбинаций</a:t>
            </a:r>
            <a:endParaRPr sz="700"/>
          </a:p>
        </p:txBody>
      </p:sp>
      <p:sp>
        <p:nvSpPr>
          <p:cNvPr id="187" name="Google Shape;187;p21"/>
          <p:cNvSpPr/>
          <p:nvPr/>
        </p:nvSpPr>
        <p:spPr>
          <a:xfrm>
            <a:off x="6589250" y="2961725"/>
            <a:ext cx="2006100" cy="17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/>
              <a:t>График 4. Матрица ошибок KNN</a:t>
            </a:r>
            <a:endParaRPr sz="700"/>
          </a:p>
        </p:txBody>
      </p:sp>
      <p:sp>
        <p:nvSpPr>
          <p:cNvPr id="188" name="Google Shape;188;p21"/>
          <p:cNvSpPr/>
          <p:nvPr/>
        </p:nvSpPr>
        <p:spPr>
          <a:xfrm>
            <a:off x="5018400" y="4969200"/>
            <a:ext cx="2655300" cy="17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/>
              <a:t>График 5. F1 по классам: KNN vs LogReg</a:t>
            </a:r>
            <a:endParaRPr sz="700"/>
          </a:p>
        </p:txBody>
      </p:sp>
      <p:sp>
        <p:nvSpPr>
          <p:cNvPr id="189" name="Google Shape;189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365760" y="731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Улучшение стартовых решений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274320" y="886968"/>
            <a:ext cx="8595360" cy="530352"/>
          </a:xfrm>
          <a:prstGeom prst="roundRect">
            <a:avLst>
              <a:gd fmla="val 12069" name="adj"/>
            </a:avLst>
          </a:prstGeom>
          <a:solidFill>
            <a:srgbClr val="E8F3FA"/>
          </a:solidFill>
          <a:ln cap="flat" cmpd="sng" w="12700">
            <a:solidFill>
              <a:srgbClr val="2970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8" name="Google Shape;198;p22"/>
          <p:cNvSpPr/>
          <p:nvPr/>
        </p:nvSpPr>
        <p:spPr>
          <a:xfrm>
            <a:off x="438912" y="94183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70B5"/>
              </a:buClr>
              <a:buSzPts val="1050"/>
              <a:buFont typeface="Calibri"/>
              <a:buNone/>
            </a:pPr>
            <a:r>
              <a:rPr lang="ru" sz="1250">
                <a:solidFill>
                  <a:srgbClr val="2970B5"/>
                </a:solidFill>
                <a:latin typeface="Calibri"/>
                <a:ea typeface="Calibri"/>
                <a:cs typeface="Calibri"/>
                <a:sym typeface="Calibri"/>
              </a:rPr>
              <a:t>Feature Engineering: удаление низкокоррелирующих признаков,  добавление статистических признаков, добавление признаки взаимодействий, добавление полиномиальных признаков, оптимизация (подбор новых гиперпараметров).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365760" y="4384548"/>
            <a:ext cx="2834640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Calibri"/>
              <a:buNone/>
            </a:pPr>
            <a:r>
              <a:t/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256045" y="4837871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D9E6B"/>
                </a:solidFill>
                <a:latin typeface="Calibri"/>
                <a:ea typeface="Calibri"/>
                <a:cs typeface="Calibri"/>
                <a:sym typeface="Calibri"/>
              </a:rPr>
              <a:t>🏆  Лучшая ML-модель: KNN c FE + оптимизация достигло 0.957</a:t>
            </a:r>
            <a:endParaRPr b="1" sz="1050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1" name="Google Shape;201;p22"/>
          <p:cNvGraphicFramePr/>
          <p:nvPr/>
        </p:nvGraphicFramePr>
        <p:xfrm>
          <a:off x="256030" y="14904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{FCF38DFA-AF06-4A20-AF57-CAE275F573ED}</a:tableStyleId>
              </a:tblPr>
              <a:tblGrid>
                <a:gridCol w="2039900"/>
                <a:gridCol w="1669775"/>
                <a:gridCol w="1739350"/>
                <a:gridCol w="1789050"/>
                <a:gridCol w="1467025"/>
              </a:tblGrid>
              <a:tr h="3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chemeClr val="lt1"/>
                          </a:solidFill>
                        </a:rPr>
                        <a:t>Эксперимент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chemeClr val="lt1"/>
                          </a:solidFill>
                        </a:rPr>
                        <a:t>KNN F1-macro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chemeClr val="lt1"/>
                          </a:solidFill>
                        </a:rPr>
                        <a:t>LogReg F1-macro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chemeClr val="lt1"/>
                          </a:solidFill>
                        </a:rPr>
                        <a:t>Улучшение KNN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chemeClr val="lt1"/>
                          </a:solidFill>
                        </a:rPr>
                        <a:t>Улучшение LogReg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25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Базовые признаки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0.9185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0.8320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—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—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</a:tr>
              <a:tr h="33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Статистические признаки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0.9345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0.8525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+0.0160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+0.0205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45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Статистические + Взаимодействия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0.9314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0.8620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+0.0129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+0.0300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</a:tr>
              <a:tr h="55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Статистические + Взаимодействия + Полиномиальные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0.9343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0.8619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+0.0158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+0.0299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26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Все </a:t>
                      </a:r>
                      <a:r>
                        <a:rPr lang="ru" sz="1200">
                          <a:solidFill>
                            <a:srgbClr val="323F4F"/>
                          </a:solidFill>
                        </a:rPr>
                        <a:t>прошлые + отношения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0.9392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0.8615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+0.0207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+0.0295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3AF8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ru" sz="1200" u="none" cap="none" strike="noStrike">
                          <a:solidFill>
                            <a:srgbClr val="53AF86"/>
                          </a:solidFill>
                        </a:rPr>
                        <a:t>Все техники FE + Оптимизация KNN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3AF8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ru" sz="1200" u="none" cap="none" strike="noStrike">
                          <a:solidFill>
                            <a:srgbClr val="53AF86"/>
                          </a:solidFill>
                        </a:rPr>
                        <a:t>0.9570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3AF8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ru" sz="1200" u="none" cap="none" strike="noStrike">
                          <a:solidFill>
                            <a:srgbClr val="53AF86"/>
                          </a:solidFill>
                        </a:rPr>
                        <a:t>-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3AF8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ru" sz="1200" u="none" cap="none" strike="noStrike">
                          <a:solidFill>
                            <a:srgbClr val="53AF86"/>
                          </a:solidFill>
                        </a:rPr>
                        <a:t>+0.0385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-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Все техники FE + Оптимизация LogReg</a:t>
                      </a:r>
                      <a:endParaRPr sz="1200" u="none" cap="none" strike="noStrike">
                        <a:solidFill>
                          <a:srgbClr val="323F4F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-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0.8570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-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3F4F"/>
                        </a:buClr>
                        <a:buSzPts val="1000"/>
                        <a:buFont typeface="Calibri"/>
                        <a:buNone/>
                      </a:pPr>
                      <a:r>
                        <a:rPr lang="ru" sz="1200" u="none" cap="none" strike="noStrike">
                          <a:solidFill>
                            <a:srgbClr val="323F4F"/>
                          </a:solidFill>
                        </a:rPr>
                        <a:t>+0.0245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DDEAF6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365760" y="731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Нелинейные ML - модели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274320" y="886968"/>
            <a:ext cx="8595360" cy="530352"/>
          </a:xfrm>
          <a:prstGeom prst="roundRect">
            <a:avLst>
              <a:gd fmla="val 12069" name="adj"/>
            </a:avLst>
          </a:prstGeom>
          <a:solidFill>
            <a:srgbClr val="E8F3FA"/>
          </a:solidFill>
          <a:ln cap="flat" cmpd="sng" w="12700">
            <a:solidFill>
              <a:srgbClr val="2970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438912" y="94183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70B5"/>
              </a:buClr>
              <a:buSzPts val="1050"/>
              <a:buFont typeface="Calibri"/>
              <a:buNone/>
            </a:pPr>
            <a:r>
              <a:rPr lang="ru" sz="1250">
                <a:solidFill>
                  <a:srgbClr val="2970B5"/>
                </a:solidFill>
                <a:latin typeface="Calibri"/>
                <a:ea typeface="Calibri"/>
                <a:cs typeface="Calibri"/>
                <a:sym typeface="Calibri"/>
              </a:rPr>
              <a:t>Feature Engineering: агрегаты MFCC (low/mid/high), статистики акселерометра (ratios, std), кросс-модальные взаимодействия (MFCC × acceleration), кластерные признаки GMM — до 1 378+ признаков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274320" y="4750221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9E6B"/>
              </a:buClr>
              <a:buSzPts val="1050"/>
              <a:buFont typeface="Calibri"/>
              <a:buNone/>
            </a:pPr>
            <a:r>
              <a:rPr b="1" lang="ru" sz="1050">
                <a:solidFill>
                  <a:srgbClr val="2D9E6B"/>
                </a:solidFill>
                <a:latin typeface="Calibri"/>
                <a:ea typeface="Calibri"/>
                <a:cs typeface="Calibri"/>
                <a:sym typeface="Calibri"/>
              </a:rPr>
              <a:t>🏆  Лучшая ML-модель: XGBoost + все FE + Optuna (0.9433), все еще проигрывает KNN + FE (F1 = 0.9570)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274320" y="1499616"/>
            <a:ext cx="8595300" cy="301800"/>
          </a:xfrm>
          <a:prstGeom prst="rect">
            <a:avLst/>
          </a:prstGeom>
          <a:solidFill>
            <a:srgbClr val="2970B5"/>
          </a:solidFill>
          <a:ln cap="flat" cmpd="sng" w="12700">
            <a:solidFill>
              <a:srgbClr val="2970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4" name="Google Shape;214;p23"/>
          <p:cNvSpPr/>
          <p:nvPr/>
        </p:nvSpPr>
        <p:spPr>
          <a:xfrm>
            <a:off x="365760" y="1517904"/>
            <a:ext cx="2834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Модель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2267774" y="1485888"/>
            <a:ext cx="33756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Ключевые гиперпараметры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6309360" y="1517904"/>
            <a:ext cx="11430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F1-macro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7452360" y="1517904"/>
            <a:ext cx="11430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ru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∆ vs Baseline</a:t>
            </a:r>
            <a:endParaRPr sz="12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274320" y="1801368"/>
            <a:ext cx="8595300" cy="23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9" name="Google Shape;219;p23"/>
          <p:cNvSpPr/>
          <p:nvPr/>
        </p:nvSpPr>
        <p:spPr>
          <a:xfrm>
            <a:off x="365760" y="1819656"/>
            <a:ext cx="2834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Decision Tree (baseline)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2267779" y="1828865"/>
            <a:ext cx="310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default params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6309360" y="1819656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~0.771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7452360" y="1819656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274320" y="2034540"/>
            <a:ext cx="8595300" cy="233100"/>
          </a:xfrm>
          <a:prstGeom prst="rect">
            <a:avLst/>
          </a:prstGeom>
          <a:solidFill>
            <a:srgbClr val="EBF5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24" name="Google Shape;224;p23"/>
          <p:cNvSpPr/>
          <p:nvPr/>
        </p:nvSpPr>
        <p:spPr>
          <a:xfrm>
            <a:off x="365760" y="2052828"/>
            <a:ext cx="2834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Decision Tree (оптимиз.)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2261104" y="2057646"/>
            <a:ext cx="38445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max_depth=10, min_samples_split=5,criterion=gini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6309360" y="2052828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~0.775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7452360" y="2052828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+0.004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274320" y="2267712"/>
            <a:ext cx="8595300" cy="23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29" name="Google Shape;229;p23"/>
          <p:cNvSpPr/>
          <p:nvPr/>
        </p:nvSpPr>
        <p:spPr>
          <a:xfrm>
            <a:off x="365760" y="2286000"/>
            <a:ext cx="2834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Decision Tree + FE + Cluster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2267779" y="2295170"/>
            <a:ext cx="310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те же + 89 инженерных признаков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6309360" y="2286000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~0.760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452360" y="2286000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-0.014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274320" y="2500884"/>
            <a:ext cx="8595300" cy="233100"/>
          </a:xfrm>
          <a:prstGeom prst="rect">
            <a:avLst/>
          </a:prstGeom>
          <a:solidFill>
            <a:srgbClr val="EBF5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4" name="Google Shape;234;p23"/>
          <p:cNvSpPr/>
          <p:nvPr/>
        </p:nvSpPr>
        <p:spPr>
          <a:xfrm>
            <a:off x="365760" y="2519172"/>
            <a:ext cx="2834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Random Forest (baseline)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2267781" y="2532891"/>
            <a:ext cx="310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n_estimators=100, max_depth=None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6309360" y="2519172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0.9011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7452360" y="2519172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+0.131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274320" y="2734056"/>
            <a:ext cx="8595300" cy="23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9" name="Google Shape;239;p23"/>
          <p:cNvSpPr/>
          <p:nvPr/>
        </p:nvSpPr>
        <p:spPr>
          <a:xfrm>
            <a:off x="365760" y="2752344"/>
            <a:ext cx="2834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Random Forest (оптимиз.)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2267766" y="2761494"/>
            <a:ext cx="310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RandomizedSearch: max_features=log2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6309360" y="2752344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~0.920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7452360" y="2752344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+0.150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274320" y="2967228"/>
            <a:ext cx="8595300" cy="233100"/>
          </a:xfrm>
          <a:prstGeom prst="rect">
            <a:avLst/>
          </a:prstGeom>
          <a:solidFill>
            <a:srgbClr val="EBF5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44" name="Google Shape;244;p23"/>
          <p:cNvSpPr/>
          <p:nvPr/>
        </p:nvSpPr>
        <p:spPr>
          <a:xfrm>
            <a:off x="365760" y="2985516"/>
            <a:ext cx="2834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Random Forest + FE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2267775" y="3002485"/>
            <a:ext cx="310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89 инженерных признаков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6309360" y="2985516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0.9180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452360" y="2985516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+0.148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74320" y="3200400"/>
            <a:ext cx="8595300" cy="233100"/>
          </a:xfrm>
          <a:prstGeom prst="rect">
            <a:avLst/>
          </a:prstGeom>
          <a:solidFill>
            <a:srgbClr val="D4EFDF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49" name="Google Shape;249;p23"/>
          <p:cNvSpPr/>
          <p:nvPr/>
        </p:nvSpPr>
        <p:spPr>
          <a:xfrm>
            <a:off x="365760" y="3218688"/>
            <a:ext cx="2834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Random Forest + GMM</a:t>
            </a:r>
            <a:endParaRPr sz="118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2267783" y="3234291"/>
            <a:ext cx="310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GMM-кластерные признаки + RF</a:t>
            </a:r>
            <a:endParaRPr sz="118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6309360" y="3218688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0.9249</a:t>
            </a:r>
            <a:endParaRPr sz="118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7452360" y="3218688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+0.154</a:t>
            </a:r>
            <a:endParaRPr sz="118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274320" y="3433572"/>
            <a:ext cx="8595300" cy="233100"/>
          </a:xfrm>
          <a:prstGeom prst="rect">
            <a:avLst/>
          </a:prstGeom>
          <a:solidFill>
            <a:srgbClr val="EBF5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4" name="Google Shape;254;p23"/>
          <p:cNvSpPr/>
          <p:nvPr/>
        </p:nvSpPr>
        <p:spPr>
          <a:xfrm>
            <a:off x="365760" y="3451860"/>
            <a:ext cx="2834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XGBoost (baseline)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2267783" y="3461013"/>
            <a:ext cx="310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default XGBoost params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6280135" y="3461023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~0.8998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7452360" y="3451860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+0.129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274320" y="3666744"/>
            <a:ext cx="8595300" cy="23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9" name="Google Shape;259;p23"/>
          <p:cNvSpPr/>
          <p:nvPr/>
        </p:nvSpPr>
        <p:spPr>
          <a:xfrm>
            <a:off x="365760" y="3685032"/>
            <a:ext cx="2834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XGBoost + Optuna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2267783" y="3685032"/>
            <a:ext cx="310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100 трайлов: n_est~400, depth~7, lr~0.1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6309360" y="3685032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~0.9000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7452360" y="3685032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+0.129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274320" y="3899916"/>
            <a:ext cx="8595300" cy="233100"/>
          </a:xfrm>
          <a:prstGeom prst="rect">
            <a:avLst/>
          </a:prstGeom>
          <a:solidFill>
            <a:srgbClr val="D4EFDF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4" name="Google Shape;264;p23"/>
          <p:cNvSpPr/>
          <p:nvPr/>
        </p:nvSpPr>
        <p:spPr>
          <a:xfrm>
            <a:off x="365760" y="3918204"/>
            <a:ext cx="2834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3A"/>
              </a:buClr>
              <a:buSzPts val="980"/>
              <a:buFont typeface="Calibri"/>
              <a:buNone/>
            </a:pPr>
            <a:r>
              <a:rPr b="1" lang="ru" sz="1180">
                <a:solidFill>
                  <a:srgbClr val="1A5C3A"/>
                </a:solidFill>
                <a:latin typeface="Calibri"/>
                <a:ea typeface="Calibri"/>
                <a:cs typeface="Calibri"/>
                <a:sym typeface="Calibri"/>
              </a:rPr>
              <a:t>XGBoost + все FE + Optuna 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2267775" y="3918223"/>
            <a:ext cx="310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3A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A5C3A"/>
                </a:solidFill>
                <a:latin typeface="Calibri"/>
                <a:ea typeface="Calibri"/>
                <a:cs typeface="Calibri"/>
                <a:sym typeface="Calibri"/>
              </a:rPr>
              <a:t>MFCC-агрег. + акселер. + кросс-мод. + кластеры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6309360" y="3918204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3A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A5C3A"/>
                </a:solidFill>
                <a:latin typeface="Calibri"/>
                <a:ea typeface="Calibri"/>
                <a:cs typeface="Calibri"/>
                <a:sym typeface="Calibri"/>
              </a:rPr>
              <a:t>~0.9433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7452360" y="3918204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3A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A5C3A"/>
                </a:solidFill>
                <a:latin typeface="Calibri"/>
                <a:ea typeface="Calibri"/>
                <a:cs typeface="Calibri"/>
                <a:sym typeface="Calibri"/>
              </a:rPr>
              <a:t>+0.172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274320" y="4133088"/>
            <a:ext cx="8595300" cy="23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9" name="Google Shape;269;p23"/>
          <p:cNvSpPr/>
          <p:nvPr/>
        </p:nvSpPr>
        <p:spPr>
          <a:xfrm>
            <a:off x="365760" y="4151376"/>
            <a:ext cx="2834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CatBoost (baseline)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2267783" y="4160526"/>
            <a:ext cx="310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iterations=500, lr=0.1, depth=6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6309360" y="4151376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~0.890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7452360" y="4151376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+0.120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274320" y="4366260"/>
            <a:ext cx="8595300" cy="233100"/>
          </a:xfrm>
          <a:prstGeom prst="rect">
            <a:avLst/>
          </a:prstGeom>
          <a:solidFill>
            <a:srgbClr val="EBF5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74" name="Google Shape;274;p23"/>
          <p:cNvSpPr/>
          <p:nvPr/>
        </p:nvSpPr>
        <p:spPr>
          <a:xfrm>
            <a:off x="365760" y="4384548"/>
            <a:ext cx="28347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CatBoost + все FE + GridSearch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2267775" y="4402836"/>
            <a:ext cx="31089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лучшая комбинация FE + GridSearch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309360" y="4384548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~0.915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7452360" y="4384548"/>
            <a:ext cx="1143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11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+0.145</a:t>
            </a:r>
            <a:endParaRPr sz="118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C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365760" y="731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Эксперименты с DL-подходами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6" name="Google Shape;286;p24"/>
          <p:cNvGrpSpPr/>
          <p:nvPr/>
        </p:nvGrpSpPr>
        <p:grpSpPr>
          <a:xfrm>
            <a:off x="274320" y="882381"/>
            <a:ext cx="8641080" cy="3178012"/>
            <a:chOff x="274320" y="882382"/>
            <a:chExt cx="8641080" cy="3178012"/>
          </a:xfrm>
        </p:grpSpPr>
        <p:sp>
          <p:nvSpPr>
            <p:cNvPr id="287" name="Google Shape;287;p24"/>
            <p:cNvSpPr/>
            <p:nvPr/>
          </p:nvSpPr>
          <p:spPr>
            <a:xfrm>
              <a:off x="274320" y="897027"/>
              <a:ext cx="8595360" cy="301752"/>
            </a:xfrm>
            <a:prstGeom prst="rect">
              <a:avLst/>
            </a:prstGeom>
            <a:solidFill>
              <a:srgbClr val="2970B5"/>
            </a:solidFill>
            <a:ln cap="flat" cmpd="sng" w="12700">
              <a:solidFill>
                <a:srgbClr val="2970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365760" y="923544"/>
              <a:ext cx="2514600" cy="265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lang="ru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Модель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2185310" y="882382"/>
              <a:ext cx="31548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lang="ru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Архитектура / особенности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5256690" y="882382"/>
              <a:ext cx="10974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lang="ru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F1-macro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6951420" y="955094"/>
              <a:ext cx="18288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lang="ru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Примечание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274320" y="1207008"/>
              <a:ext cx="8595360" cy="23683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CD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365760" y="1225296"/>
              <a:ext cx="25146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MLP Base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4"/>
            <p:cNvSpPr/>
            <p:nvPr/>
          </p:nvSpPr>
          <p:spPr>
            <a:xfrm>
              <a:off x="2185360" y="1216159"/>
              <a:ext cx="3154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1 скрытый слой 128, Dropout 0.3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24"/>
            <p:cNvSpPr/>
            <p:nvPr/>
          </p:nvSpPr>
          <p:spPr>
            <a:xfrm>
              <a:off x="5256753" y="1221184"/>
              <a:ext cx="1097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0.9226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6951420" y="1231946"/>
              <a:ext cx="1828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Baseline DL, быстрая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24"/>
            <p:cNvSpPr/>
            <p:nvPr/>
          </p:nvSpPr>
          <p:spPr>
            <a:xfrm>
              <a:off x="274320" y="1443838"/>
              <a:ext cx="8595360" cy="236830"/>
            </a:xfrm>
            <a:prstGeom prst="rect">
              <a:avLst/>
            </a:prstGeom>
            <a:solidFill>
              <a:srgbClr val="DDEAF6"/>
            </a:solidFill>
            <a:ln cap="flat" cmpd="sng" w="12700">
              <a:solidFill>
                <a:srgbClr val="CCD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365760" y="1462126"/>
              <a:ext cx="25146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MLP Deep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2185360" y="1462126"/>
              <a:ext cx="3154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3 слоя [256,128,64], BatchNorm, Dropout 0.3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5256753" y="1448488"/>
              <a:ext cx="1097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~0.9150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6951420" y="1462138"/>
              <a:ext cx="1828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Переобучение при FE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274320" y="1680667"/>
              <a:ext cx="8595360" cy="23683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CD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365760" y="1698955"/>
              <a:ext cx="25146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MLP Wide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2185460" y="1712680"/>
              <a:ext cx="3154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512→256, BatchNorm, Dropout 0.4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5256803" y="1698968"/>
              <a:ext cx="1097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~0.9029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6951420" y="1689905"/>
              <a:ext cx="1828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Переобучение при FE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274320" y="1917497"/>
              <a:ext cx="8595360" cy="236830"/>
            </a:xfrm>
            <a:prstGeom prst="rect">
              <a:avLst/>
            </a:prstGeom>
            <a:solidFill>
              <a:srgbClr val="DDEAF6"/>
            </a:solidFill>
            <a:ln cap="flat" cmpd="sng" w="12700">
              <a:solidFill>
                <a:srgbClr val="CCD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365760" y="1935785"/>
              <a:ext cx="25146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MLP Residual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2185410" y="1944935"/>
              <a:ext cx="3154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3 Residual-блока dim=256, skip-connections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5256753" y="1944935"/>
              <a:ext cx="1097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0.888 / 0.9354 (c FE)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6951420" y="1944873"/>
              <a:ext cx="1828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с FE: лучшая MLP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274320" y="2154326"/>
              <a:ext cx="8595360" cy="23683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CD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365760" y="2172614"/>
              <a:ext cx="25146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MLP MultiModal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2185360" y="2163452"/>
              <a:ext cx="3154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Раздельная обработка MFCC и акселер., слияние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5256853" y="2163539"/>
              <a:ext cx="1097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0.9268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6951420" y="2172614"/>
              <a:ext cx="1828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Лучшая без FE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274320" y="2391156"/>
              <a:ext cx="8595360" cy="236830"/>
            </a:xfrm>
            <a:prstGeom prst="rect">
              <a:avLst/>
            </a:prstGeom>
            <a:solidFill>
              <a:srgbClr val="D4EFDF"/>
            </a:solidFill>
            <a:ln cap="flat" cmpd="sng" w="12700">
              <a:solidFill>
                <a:srgbClr val="CCD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365760" y="2409444"/>
              <a:ext cx="25146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TabTransformer</a:t>
              </a:r>
              <a:endParaRPr sz="9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2185360" y="2418582"/>
              <a:ext cx="3154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d=64, 4 головы, 2 слоя, Attention по признакам</a:t>
              </a:r>
              <a:endParaRPr sz="9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5256903" y="2409444"/>
              <a:ext cx="1097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0.9393</a:t>
              </a:r>
              <a:endParaRPr sz="9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7086600" y="2389962"/>
              <a:ext cx="18288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80"/>
                <a:buFont typeface="Calibri"/>
                <a:buNone/>
              </a:pPr>
              <a:r>
                <a:t/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274320" y="2627985"/>
              <a:ext cx="8595360" cy="29626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CD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365760" y="2646274"/>
              <a:ext cx="25146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FT-Transformer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2185360" y="2637137"/>
              <a:ext cx="3154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d=64, 4 головы, 3 слоя, CLS-токен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5256953" y="2646274"/>
              <a:ext cx="1097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0.8754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6951428" y="2665756"/>
              <a:ext cx="1940118" cy="1990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CLS теряет локальные зависимости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274320" y="2864815"/>
              <a:ext cx="8595360" cy="236830"/>
            </a:xfrm>
            <a:prstGeom prst="rect">
              <a:avLst/>
            </a:prstGeom>
            <a:solidFill>
              <a:srgbClr val="DDEAF6"/>
            </a:solidFill>
            <a:ln cap="flat" cmpd="sng" w="12700">
              <a:solidFill>
                <a:srgbClr val="CCD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365760" y="2883103"/>
              <a:ext cx="25146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CrossModalTransformer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2185510" y="2883103"/>
              <a:ext cx="3154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Раздельные Transformer + Cross-Attention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4"/>
            <p:cNvSpPr/>
            <p:nvPr/>
          </p:nvSpPr>
          <p:spPr>
            <a:xfrm>
              <a:off x="5257003" y="2883178"/>
              <a:ext cx="1097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0.9039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6951430" y="2883103"/>
              <a:ext cx="1828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Межмод. структура избыточна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274320" y="3101645"/>
              <a:ext cx="8595360" cy="23683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CD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4"/>
            <p:cNvSpPr/>
            <p:nvPr/>
          </p:nvSpPr>
          <p:spPr>
            <a:xfrm>
              <a:off x="365760" y="3119933"/>
              <a:ext cx="25146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AttentionMLP (GLU)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2185560" y="3119933"/>
              <a:ext cx="3154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Self-Attention d=64 + Gated MLP 512-256-128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4"/>
            <p:cNvSpPr/>
            <p:nvPr/>
          </p:nvSpPr>
          <p:spPr>
            <a:xfrm>
              <a:off x="5257053" y="3110871"/>
              <a:ext cx="1097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0.9238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6951420" y="3110871"/>
              <a:ext cx="1828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Тяжелее, качество около TabT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274320" y="3338474"/>
              <a:ext cx="8595360" cy="236830"/>
            </a:xfrm>
            <a:prstGeom prst="rect">
              <a:avLst/>
            </a:prstGeom>
            <a:solidFill>
              <a:srgbClr val="DDEAF6"/>
            </a:solidFill>
            <a:ln cap="flat" cmpd="sng" w="12700">
              <a:solidFill>
                <a:srgbClr val="CCD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365760" y="3356762"/>
              <a:ext cx="25146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AttentionMLP + FE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2185610" y="3347612"/>
              <a:ext cx="3154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то же + 1 378 инженерных признаков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5256753" y="3343162"/>
              <a:ext cx="1097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0.9392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6951420" y="3343162"/>
              <a:ext cx="1828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Лёгкое переобучение val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274320" y="3575304"/>
              <a:ext cx="8595360" cy="23683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CD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4"/>
            <p:cNvSpPr/>
            <p:nvPr/>
          </p:nvSpPr>
          <p:spPr>
            <a:xfrm>
              <a:off x="365760" y="3593592"/>
              <a:ext cx="25146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HARNet10 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2185710" y="3629542"/>
              <a:ext cx="3154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Претренированная 1D-CNN на сырых данных акселер.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4"/>
            <p:cNvSpPr/>
            <p:nvPr/>
          </p:nvSpPr>
          <p:spPr>
            <a:xfrm>
              <a:off x="5257103" y="3599305"/>
              <a:ext cx="1097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0.9745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4"/>
            <p:cNvSpPr/>
            <p:nvPr/>
          </p:nvSpPr>
          <p:spPr>
            <a:xfrm>
              <a:off x="6951420" y="3583430"/>
              <a:ext cx="1828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Только акселерометр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4"/>
            <p:cNvSpPr/>
            <p:nvPr/>
          </p:nvSpPr>
          <p:spPr>
            <a:xfrm>
              <a:off x="274320" y="3823563"/>
              <a:ext cx="8595360" cy="236830"/>
            </a:xfrm>
            <a:prstGeom prst="rect">
              <a:avLst/>
            </a:prstGeom>
            <a:solidFill>
              <a:srgbClr val="DDEAF6"/>
            </a:solidFill>
            <a:ln cap="flat" cmpd="sng" w="12700">
              <a:solidFill>
                <a:srgbClr val="CCD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4"/>
            <p:cNvSpPr/>
            <p:nvPr/>
          </p:nvSpPr>
          <p:spPr>
            <a:xfrm>
              <a:off x="365760" y="3830422"/>
              <a:ext cx="2514600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5C3A"/>
                </a:buClr>
                <a:buSzPts val="980"/>
                <a:buFont typeface="Calibri"/>
                <a:buNone/>
              </a:pPr>
              <a:r>
                <a:rPr b="1" lang="ru" sz="980">
                  <a:solidFill>
                    <a:srgbClr val="1A5C3A"/>
                  </a:solidFill>
                  <a:latin typeface="Calibri"/>
                  <a:ea typeface="Calibri"/>
                  <a:cs typeface="Calibri"/>
                  <a:sym typeface="Calibri"/>
                </a:rPr>
                <a:t>HARNet + KNN (Late Fusion)</a:t>
              </a:r>
              <a:endParaRPr b="1" sz="980">
                <a:solidFill>
                  <a:srgbClr val="1A5C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4"/>
            <p:cNvSpPr/>
            <p:nvPr/>
          </p:nvSpPr>
          <p:spPr>
            <a:xfrm>
              <a:off x="2185660" y="3828197"/>
              <a:ext cx="3154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alpha·P_harnet+(1−alpha)·P_knn, лучший alpha = 0.6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4"/>
            <p:cNvSpPr/>
            <p:nvPr/>
          </p:nvSpPr>
          <p:spPr>
            <a:xfrm>
              <a:off x="5256753" y="3841847"/>
              <a:ext cx="1097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0.9784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4"/>
            <p:cNvSpPr/>
            <p:nvPr/>
          </p:nvSpPr>
          <p:spPr>
            <a:xfrm>
              <a:off x="6951420" y="3825972"/>
              <a:ext cx="18288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050"/>
                </a:buClr>
                <a:buSzPts val="980"/>
                <a:buFont typeface="Calibri"/>
                <a:buNone/>
              </a:pPr>
              <a:r>
                <a:rPr lang="ru" sz="980">
                  <a:solidFill>
                    <a:srgbClr val="1B3050"/>
                  </a:solidFill>
                  <a:latin typeface="Calibri"/>
                  <a:ea typeface="Calibri"/>
                  <a:cs typeface="Calibri"/>
                  <a:sym typeface="Calibri"/>
                </a:rPr>
                <a:t>Ансамбль двух модальностей</a:t>
              </a:r>
              <a:endParaRPr sz="9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24"/>
          <p:cNvSpPr/>
          <p:nvPr/>
        </p:nvSpPr>
        <p:spPr>
          <a:xfrm>
            <a:off x="256032" y="4308652"/>
            <a:ext cx="8595360" cy="420624"/>
          </a:xfrm>
          <a:prstGeom prst="roundRect">
            <a:avLst>
              <a:gd fmla="val 13043" name="adj"/>
            </a:avLst>
          </a:prstGeom>
          <a:solidFill>
            <a:srgbClr val="D4EFDF"/>
          </a:solidFill>
          <a:ln cap="flat" cmpd="sng" w="12700">
            <a:solidFill>
              <a:srgbClr val="2D9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4"/>
          <p:cNvSpPr/>
          <p:nvPr/>
        </p:nvSpPr>
        <p:spPr>
          <a:xfrm>
            <a:off x="292608" y="4357711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1A5C3A"/>
                </a:solidFill>
                <a:latin typeface="Calibri"/>
                <a:ea typeface="Calibri"/>
                <a:cs typeface="Calibri"/>
                <a:sym typeface="Calibri"/>
              </a:rPr>
              <a:t>🏆  Лучшая DL-модель: HARNet + KNN (Late Fusion)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6937695" y="2456545"/>
            <a:ext cx="18288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980"/>
              <a:buFont typeface="Calibri"/>
              <a:buNone/>
            </a:pPr>
            <a:r>
              <a:rPr lang="ru" sz="98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Быстрая сходимость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"/>
          <p:cNvSpPr/>
          <p:nvPr/>
        </p:nvSpPr>
        <p:spPr>
          <a:xfrm>
            <a:off x="0" y="0"/>
            <a:ext cx="9144000" cy="80460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365760" y="73152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Описание сервисной части</a:t>
            </a:r>
            <a:endParaRPr b="1"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 txBox="1"/>
          <p:nvPr>
            <p:ph idx="1" type="body"/>
          </p:nvPr>
        </p:nvSpPr>
        <p:spPr>
          <a:xfrm>
            <a:off x="311700" y="853375"/>
            <a:ext cx="85206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2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Реализован Streamlit-сервис для инференса моделей распознавания активности. MLflow используется для загрузки production-модели и артефактов, PostgreSQL хранит историю запросов и статистику работы сервиса.</a:t>
            </a:r>
            <a:endParaRPr sz="203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 txBox="1"/>
          <p:nvPr/>
        </p:nvSpPr>
        <p:spPr>
          <a:xfrm>
            <a:off x="311700" y="1771550"/>
            <a:ext cx="3619500" cy="26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1B305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Архитектура:</a:t>
            </a:r>
            <a:endParaRPr sz="1500">
              <a:solidFill>
                <a:srgbClr val="1B305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Web-интерфейс</a:t>
            </a: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: Streamlit</a:t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Model registry</a:t>
            </a: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: MLFlow</a:t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Модели</a:t>
            </a: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: KNN, HARNet, Late Fusion</a:t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База данных</a:t>
            </a: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: PostgreSQL</a:t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Доступ к БД</a:t>
            </a: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: SQLAlchemy</a:t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Миграции схемы БД</a:t>
            </a: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: Alembic</a:t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 txBox="1"/>
          <p:nvPr/>
        </p:nvSpPr>
        <p:spPr>
          <a:xfrm>
            <a:off x="4089900" y="1739875"/>
            <a:ext cx="4742400" cy="3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Основные возможности:</a:t>
            </a:r>
            <a:endParaRPr sz="16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600"/>
              <a:buFont typeface="Calibri"/>
              <a:buChar char="●"/>
            </a:pPr>
            <a:r>
              <a:rPr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Инференс KNN модели по готовым признакам</a:t>
            </a:r>
            <a:endParaRPr sz="16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600"/>
              <a:buFont typeface="Calibri"/>
              <a:buChar char="●"/>
            </a:pPr>
            <a:r>
              <a:rPr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Инференс full fusion модели (KNN + HARNet) по mfcc признакам + сырым данным акселерометра</a:t>
            </a:r>
            <a:endParaRPr sz="16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600"/>
              <a:buFont typeface="Calibri"/>
              <a:buChar char="●"/>
            </a:pPr>
            <a:r>
              <a:rPr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Возможность преобразования сырого аудио-файла в mfcc признаки</a:t>
            </a:r>
            <a:endParaRPr sz="16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600"/>
              <a:buFont typeface="Calibri"/>
              <a:buChar char="●"/>
            </a:pPr>
            <a:r>
              <a:rPr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Историческая статистика запросов и производительности</a:t>
            </a:r>
            <a:endParaRPr sz="19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365750" y="4571575"/>
            <a:ext cx="3971400" cy="393600"/>
          </a:xfrm>
          <a:prstGeom prst="rect">
            <a:avLst/>
          </a:prstGeom>
          <a:solidFill>
            <a:srgbClr val="CCDDEE"/>
          </a:solidFill>
          <a:ln cap="flat" cmpd="sng" w="9525">
            <a:solidFill>
              <a:srgbClr val="6A8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Streamlit - </a:t>
            </a:r>
            <a:r>
              <a:rPr b="1" lang="ru" sz="1800" u="sng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http://51.250.16.234:5001/</a:t>
            </a:r>
            <a:r>
              <a:rPr b="1" lang="ru" sz="18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6" title="Screen Recording 2026-06-13 at 23.46.5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270" y="0"/>
            <a:ext cx="791953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/>
          <p:nvPr/>
        </p:nvSpPr>
        <p:spPr>
          <a:xfrm>
            <a:off x="0" y="0"/>
            <a:ext cx="9144000" cy="80460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7"/>
          <p:cNvSpPr/>
          <p:nvPr/>
        </p:nvSpPr>
        <p:spPr>
          <a:xfrm>
            <a:off x="365760" y="73152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Л</a:t>
            </a: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огирование и мониторинг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 txBox="1"/>
          <p:nvPr/>
        </p:nvSpPr>
        <p:spPr>
          <a:xfrm>
            <a:off x="2982350" y="2669650"/>
            <a:ext cx="37116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0" name="Google Shape;380;p27"/>
          <p:cNvPicPr preferRelativeResize="0"/>
          <p:nvPr/>
        </p:nvPicPr>
        <p:blipFill rotWithShape="1">
          <a:blip r:embed="rId3">
            <a:alphaModFix/>
          </a:blip>
          <a:srcRect b="57941" l="940" r="-940" t="0"/>
          <a:stretch/>
        </p:blipFill>
        <p:spPr>
          <a:xfrm>
            <a:off x="5449600" y="925101"/>
            <a:ext cx="3456188" cy="16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7"/>
          <p:cNvSpPr txBox="1"/>
          <p:nvPr/>
        </p:nvSpPr>
        <p:spPr>
          <a:xfrm>
            <a:off x="5285338" y="4415700"/>
            <a:ext cx="37116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Значения метрик и параметров в mlflow</a:t>
            </a:r>
            <a:endParaRPr sz="16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7"/>
          <p:cNvSpPr txBox="1"/>
          <p:nvPr/>
        </p:nvSpPr>
        <p:spPr>
          <a:xfrm>
            <a:off x="1956375" y="3881425"/>
            <a:ext cx="16146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3" name="Google Shape;38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888" y="2571750"/>
            <a:ext cx="3290475" cy="165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376" y="1186800"/>
            <a:ext cx="5036599" cy="29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7"/>
          <p:cNvSpPr txBox="1"/>
          <p:nvPr/>
        </p:nvSpPr>
        <p:spPr>
          <a:xfrm>
            <a:off x="1499175" y="4415700"/>
            <a:ext cx="2529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Артефакты в s3 хранилище</a:t>
            </a:r>
            <a:endParaRPr sz="16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8"/>
          <p:cNvSpPr/>
          <p:nvPr/>
        </p:nvSpPr>
        <p:spPr>
          <a:xfrm>
            <a:off x="0" y="0"/>
            <a:ext cx="9144000" cy="80460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8"/>
          <p:cNvSpPr/>
          <p:nvPr/>
        </p:nvSpPr>
        <p:spPr>
          <a:xfrm>
            <a:off x="365760" y="73152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Разделение ролей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 txBox="1"/>
          <p:nvPr/>
        </p:nvSpPr>
        <p:spPr>
          <a:xfrm>
            <a:off x="2982350" y="2669650"/>
            <a:ext cx="37116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8"/>
          <p:cNvSpPr txBox="1"/>
          <p:nvPr/>
        </p:nvSpPr>
        <p:spPr>
          <a:xfrm>
            <a:off x="1956375" y="3881425"/>
            <a:ext cx="16146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311700" y="917475"/>
            <a:ext cx="3110700" cy="4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Секретов Кирилл:</a:t>
            </a:r>
            <a:endParaRPr b="1"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Описание и интерпретация признаков</a:t>
            </a:r>
            <a:endParaRPr b="1"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Обучение </a:t>
            </a: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и оценка качества логистической регрессии и</a:t>
            </a: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 градиентного бустинга XGBoost </a:t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Обучение и оценка качества нескольких</a:t>
            </a: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 attention-based DL архитектур</a:t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Оценка устойчивости модели к изменениям входных данных и логирование результатов в </a:t>
            </a: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MLflow</a:t>
            </a: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, загрузка модели из </a:t>
            </a:r>
            <a:r>
              <a:rPr lang="ru" sz="15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MLflow</a:t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8"/>
          <p:cNvSpPr txBox="1"/>
          <p:nvPr/>
        </p:nvSpPr>
        <p:spPr>
          <a:xfrm>
            <a:off x="3294625" y="917475"/>
            <a:ext cx="3030600" cy="3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1B305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Даньшина Василиса:</a:t>
            </a:r>
            <a:endParaRPr b="1" sz="1500">
              <a:solidFill>
                <a:srgbClr val="1B305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43D6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Анализ распределения данных, cтратегии работы с выбросами</a:t>
            </a:r>
            <a:endParaRPr sz="1500">
              <a:solidFill>
                <a:srgbClr val="243D63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43D6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Обучение и оценка качества KNN в качестве baseline.</a:t>
            </a:r>
            <a:r>
              <a:rPr lang="ru" sz="1500">
                <a:solidFill>
                  <a:srgbClr val="243D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243D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43D6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Обучение, feature engineering и оценка качества Random Forest</a:t>
            </a:r>
            <a:endParaRPr sz="1500">
              <a:solidFill>
                <a:srgbClr val="243D63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43D6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Обучение и оценка нескольких архитектур MLP </a:t>
            </a:r>
            <a:endParaRPr sz="1500">
              <a:solidFill>
                <a:srgbClr val="243D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243D6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Фиксация seed, анализ ошибок модели, сравнение с baseline, логирование результатов в MLflow</a:t>
            </a:r>
            <a:r>
              <a:rPr lang="ru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 txBox="1"/>
          <p:nvPr/>
        </p:nvSpPr>
        <p:spPr>
          <a:xfrm>
            <a:off x="6384275" y="917475"/>
            <a:ext cx="2627400" cy="3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1B305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Акимов Сергей:</a:t>
            </a:r>
            <a:endParaRPr b="1" sz="1500">
              <a:solidFill>
                <a:srgbClr val="1B305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43D6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Анализ корреляций признаков</a:t>
            </a:r>
            <a:endParaRPr sz="1500">
              <a:solidFill>
                <a:srgbClr val="243D63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43D6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Feature engineering KNN и LogReg и подбор гиперпараметров</a:t>
            </a:r>
            <a:endParaRPr sz="1500">
              <a:solidFill>
                <a:srgbClr val="243D63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43D6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Дообучение HARNet и fusion с KNN</a:t>
            </a:r>
            <a:endParaRPr sz="1500">
              <a:solidFill>
                <a:srgbClr val="243D63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243D6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Поднятие MLflow и S3 с лучшими моделями</a:t>
            </a:r>
            <a:endParaRPr sz="1500">
              <a:solidFill>
                <a:srgbClr val="243D63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243D6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Streamlit сервис</a:t>
            </a:r>
            <a:endParaRPr sz="1500">
              <a:solidFill>
                <a:srgbClr val="243D63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8"/>
          <p:cNvSpPr txBox="1"/>
          <p:nvPr>
            <p:ph idx="12" type="sldNum"/>
          </p:nvPr>
        </p:nvSpPr>
        <p:spPr>
          <a:xfrm>
            <a:off x="8595359" y="47499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9"/>
          <p:cNvSpPr/>
          <p:nvPr/>
        </p:nvSpPr>
        <p:spPr>
          <a:xfrm>
            <a:off x="0" y="0"/>
            <a:ext cx="9144000" cy="80460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9"/>
          <p:cNvSpPr/>
          <p:nvPr/>
        </p:nvSpPr>
        <p:spPr>
          <a:xfrm>
            <a:off x="365760" y="73152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ru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Итоги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9"/>
          <p:cNvSpPr txBox="1"/>
          <p:nvPr/>
        </p:nvSpPr>
        <p:spPr>
          <a:xfrm>
            <a:off x="2982350" y="2669650"/>
            <a:ext cx="37116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1956375" y="3881425"/>
            <a:ext cx="16146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9"/>
          <p:cNvSpPr/>
          <p:nvPr/>
        </p:nvSpPr>
        <p:spPr>
          <a:xfrm>
            <a:off x="274331" y="932700"/>
            <a:ext cx="8686800" cy="4016400"/>
          </a:xfrm>
          <a:prstGeom prst="roundRect">
            <a:avLst>
              <a:gd fmla="val 2326" name="adj"/>
            </a:avLst>
          </a:prstGeom>
          <a:solidFill>
            <a:srgbClr val="FFFFFF"/>
          </a:solidFill>
          <a:ln cap="flat" cmpd="sng" w="12700">
            <a:solidFill>
              <a:srgbClr val="2970B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29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9"/>
          <p:cNvSpPr/>
          <p:nvPr/>
        </p:nvSpPr>
        <p:spPr>
          <a:xfrm>
            <a:off x="274325" y="932700"/>
            <a:ext cx="8607600" cy="3817200"/>
          </a:xfrm>
          <a:prstGeom prst="roundRect">
            <a:avLst>
              <a:gd fmla="val 2326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700"/>
              <a:buFont typeface="Calibri"/>
              <a:buChar char="●"/>
            </a:pPr>
            <a:r>
              <a:rPr lang="ru" sz="17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Построена система многоклассовой классификации временных окон по аудио и акселерометрическим данным</a:t>
            </a:r>
            <a:endParaRPr sz="17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700"/>
              <a:buFont typeface="Calibri"/>
              <a:buChar char="●"/>
            </a:pPr>
            <a:r>
              <a:rPr lang="ru" sz="17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Проведён анализ данных и выбрана ключевая метрика качества (F1-macro) для многоклассовой классификации </a:t>
            </a:r>
            <a:endParaRPr sz="17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700"/>
              <a:buFont typeface="Calibri"/>
              <a:buChar char="●"/>
            </a:pPr>
            <a:r>
              <a:rPr lang="ru" sz="17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Реализован набор ML-моделей с feature engineering и подбором гиперпараметров </a:t>
            </a:r>
            <a:endParaRPr sz="17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700"/>
              <a:buFont typeface="Calibri"/>
              <a:buChar char="●"/>
            </a:pPr>
            <a:r>
              <a:rPr lang="ru" sz="17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Проведены эксперименты с DL-архитектурами</a:t>
            </a:r>
            <a:endParaRPr sz="17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700"/>
              <a:buFont typeface="Calibri"/>
              <a:buChar char="●"/>
            </a:pPr>
            <a:r>
              <a:rPr lang="ru" sz="17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Выполнено сравнение ML и DL подходов; лучшая DL-модель (HARNet + KNN, late fusion) показала наилучшее качество по метрике F1-macro </a:t>
            </a:r>
            <a:r>
              <a:rPr b="1" lang="ru" sz="17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0.9784 </a:t>
            </a:r>
            <a:endParaRPr b="1" sz="17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050"/>
              </a:buClr>
              <a:buSzPts val="1700"/>
              <a:buFont typeface="Calibri"/>
              <a:buChar char="●"/>
            </a:pPr>
            <a:r>
              <a:rPr lang="ru" sz="17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Организовано версионирование экспериментов в MLflow: логирование параметров, метрик, артефактов</a:t>
            </a:r>
            <a:endParaRPr sz="17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" sz="17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Зафиксированы и проанализированы результаты экспериментов, включая сравнение моделей, анализ ошибок предсказаний, оценку устойчивости к изменениям входных данных и логирование финальной версии модели с обеспечением воспроизводимости</a:t>
            </a:r>
            <a:endParaRPr sz="17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" sz="1700">
                <a:solidFill>
                  <a:srgbClr val="1B3050"/>
                </a:solidFill>
                <a:latin typeface="Calibri"/>
                <a:ea typeface="Calibri"/>
                <a:cs typeface="Calibri"/>
                <a:sym typeface="Calibri"/>
              </a:rPr>
              <a:t>Разработан Streamlit для взаимодействия с моделью </a:t>
            </a:r>
            <a:endParaRPr sz="1700">
              <a:solidFill>
                <a:srgbClr val="1B3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 txBox="1"/>
          <p:nvPr>
            <p:ph idx="12" type="sldNum"/>
          </p:nvPr>
        </p:nvSpPr>
        <p:spPr>
          <a:xfrm>
            <a:off x="8775775" y="4812100"/>
            <a:ext cx="368100" cy="3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